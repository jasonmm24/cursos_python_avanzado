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6FCFA-BCA4-433A-B855-AD2F70BB6357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3DB2-57A9-449C-8528-97DC6005A0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912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6FCFA-BCA4-433A-B855-AD2F70BB6357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3DB2-57A9-449C-8528-97DC6005A0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1301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6FCFA-BCA4-433A-B855-AD2F70BB6357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3DB2-57A9-449C-8528-97DC6005A0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6148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6FCFA-BCA4-433A-B855-AD2F70BB6357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3DB2-57A9-449C-8528-97DC6005A0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0779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6FCFA-BCA4-433A-B855-AD2F70BB6357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3DB2-57A9-449C-8528-97DC6005A0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9545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6FCFA-BCA4-433A-B855-AD2F70BB6357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3DB2-57A9-449C-8528-97DC6005A0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0173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6FCFA-BCA4-433A-B855-AD2F70BB6357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3DB2-57A9-449C-8528-97DC6005A0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3246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6FCFA-BCA4-433A-B855-AD2F70BB6357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3DB2-57A9-449C-8528-97DC6005A0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9459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6FCFA-BCA4-433A-B855-AD2F70BB6357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3DB2-57A9-449C-8528-97DC6005A0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290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6FCFA-BCA4-433A-B855-AD2F70BB6357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3DB2-57A9-449C-8528-97DC6005A0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8478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6FCFA-BCA4-433A-B855-AD2F70BB6357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3DB2-57A9-449C-8528-97DC6005A0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063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016FCFA-BCA4-433A-B855-AD2F70BB6357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41E3DB2-57A9-449C-8528-97DC6005A0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4688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44222172-BFFB-11B7-59A6-F37D419C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58746" y="-44605"/>
            <a:ext cx="8333253" cy="6911657"/>
            <a:chOff x="0" y="-44605"/>
            <a:chExt cx="12192000" cy="6911657"/>
          </a:xfrm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AA817A10-9C91-80DD-D936-78C855048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35554"/>
              <a:ext cx="12192000" cy="6902606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1D69DB5E-D2A9-75D0-1C72-22024477D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44605"/>
              <a:ext cx="12192000" cy="6902605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8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0D6ACA65-7282-7E8C-76A2-EE394C1A5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93892" y="-35555"/>
              <a:ext cx="4498108" cy="6902604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Rectangle 1036">
              <a:extLst>
                <a:ext uri="{FF2B5EF4-FFF2-40B4-BE49-F238E27FC236}">
                  <a16:creationId xmlns:a16="http://schemas.microsoft.com/office/drawing/2014/main" id="{4CC55624-A063-015D-4548-FA5748B905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35555"/>
              <a:ext cx="5057929" cy="6017255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52000"/>
                  </a:schemeClr>
                </a:gs>
                <a:gs pos="32000">
                  <a:schemeClr val="accent2"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851D643-29B2-730E-13AD-A4A3453D3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0636" y="1460310"/>
            <a:ext cx="5395365" cy="2161610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rgbClr val="FFFFFF"/>
                </a:solidFill>
              </a:rPr>
              <a:t>Python Avanzado: </a:t>
            </a:r>
            <a:br>
              <a:rPr lang="es-ES" sz="4100">
                <a:solidFill>
                  <a:srgbClr val="FFFFFF"/>
                </a:solidFill>
              </a:rPr>
            </a:br>
            <a:r>
              <a:rPr lang="es-ES" sz="4100">
                <a:solidFill>
                  <a:srgbClr val="FFFFFF"/>
                </a:solidFill>
              </a:rPr>
              <a:t>Interfaces Gráficas, Comunicación y Visión.</a:t>
            </a:r>
            <a:endParaRPr lang="es-MX" sz="41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8542E1-C22B-6245-B8D2-238C4944F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4227" y="3793825"/>
            <a:ext cx="4948182" cy="1400607"/>
          </a:xfrm>
        </p:spPr>
        <p:txBody>
          <a:bodyPr>
            <a:normAutofit/>
          </a:bodyPr>
          <a:lstStyle/>
          <a:p>
            <a:r>
              <a:rPr lang="es-ES" sz="2000">
                <a:solidFill>
                  <a:srgbClr val="FFFFFF"/>
                </a:solidFill>
              </a:rPr>
              <a:t>Llevando el software al mundo físico.</a:t>
            </a:r>
          </a:p>
          <a:p>
            <a:endParaRPr lang="es-ES" sz="2000">
              <a:solidFill>
                <a:srgbClr val="FFFFFF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632AC54-A31E-D088-A132-699F9BCA1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3876" y="361596"/>
            <a:ext cx="3823013" cy="1080000"/>
          </a:xfrm>
          <a:prstGeom prst="rect">
            <a:avLst/>
          </a:prstGeom>
        </p:spPr>
      </p:pic>
      <p:pic>
        <p:nvPicPr>
          <p:cNvPr id="5" name="Picture 6" descr="Home - mediapipe">
            <a:extLst>
              <a:ext uri="{FF2B5EF4-FFF2-40B4-BE49-F238E27FC236}">
                <a16:creationId xmlns:a16="http://schemas.microsoft.com/office/drawing/2014/main" id="{BEE5081D-DB55-761E-351E-86432C1B1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402" b="89744" l="6961" r="93503">
                        <a14:foregroundMark x1="6961" y1="32479" x2="6961" y2="32479"/>
                        <a14:foregroundMark x1="7425" y1="68376" x2="7425" y2="68376"/>
                        <a14:foregroundMark x1="10905" y1="45299" x2="10905" y2="45299"/>
                        <a14:foregroundMark x1="16241" y1="53846" x2="16241" y2="53846"/>
                        <a14:foregroundMark x1="11601" y1="74359" x2="11601" y2="74359"/>
                        <a14:foregroundMark x1="15777" y1="24786" x2="15777" y2="24786"/>
                        <a14:foregroundMark x1="20186" y1="37607" x2="20186" y2="37607"/>
                        <a14:foregroundMark x1="39211" y1="48718" x2="39211" y2="48718"/>
                        <a14:foregroundMark x1="46868" y1="52137" x2="46868" y2="52137"/>
                        <a14:foregroundMark x1="55916" y1="47863" x2="55916" y2="47863"/>
                        <a14:foregroundMark x1="56148" y1="34188" x2="56148" y2="34188"/>
                        <a14:foregroundMark x1="63573" y1="47009" x2="63573" y2="47009"/>
                        <a14:foregroundMark x1="68445" y1="50427" x2="68445" y2="50427"/>
                        <a14:foregroundMark x1="76102" y1="49573" x2="76102" y2="49573"/>
                        <a14:foregroundMark x1="76334" y1="35043" x2="76334" y2="35043"/>
                        <a14:foregroundMark x1="79582" y1="52137" x2="79582" y2="52137"/>
                        <a14:foregroundMark x1="88631" y1="47863" x2="88631" y2="47863"/>
                        <a14:foregroundMark x1="93503" y1="54701" x2="93503" y2="54701"/>
                        <a14:foregroundMark x1="15313" y1="60684" x2="15313" y2="60684"/>
                        <a14:foregroundMark x1="15777" y1="47009" x2="15777" y2="47009"/>
                        <a14:foregroundMark x1="15545" y1="56410" x2="15545" y2="56410"/>
                        <a14:foregroundMark x1="15777" y1="64103" x2="15777" y2="64103"/>
                        <a14:foregroundMark x1="15545" y1="72650" x2="15545" y2="72650"/>
                        <a14:foregroundMark x1="11601" y1="51282" x2="11601" y2="51282"/>
                        <a14:foregroundMark x1="10905" y1="33333" x2="10905" y2="33333"/>
                        <a14:foregroundMark x1="11137" y1="25641" x2="11369" y2="55556"/>
                        <a14:foregroundMark x1="26682" y1="44444" x2="26914" y2="47009"/>
                        <a14:foregroundMark x1="26914" y1="47009" x2="26914" y2="47009"/>
                        <a14:foregroundMark x1="26914" y1="47009" x2="26914" y2="47009"/>
                        <a14:foregroundMark x1="27146" y1="47009" x2="27146" y2="47863"/>
                        <a14:backgroundMark x1="27842" y1="50427" x2="27842" y2="50427"/>
                        <a14:backgroundMark x1="33875" y1="47009" x2="33875" y2="470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72451" y="3914590"/>
            <a:ext cx="3978465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14F5403-554D-2AC3-F1F8-9C8BA79EE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04741" y="1997220"/>
            <a:ext cx="824083" cy="108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ACEDF6D-7D11-5691-E30D-B1B2EEA3B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37500" y1="52344" x2="37500" y2="523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72888" y="5319319"/>
            <a:ext cx="1087790" cy="108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05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43969-F318-6343-F4C5-F035DB705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s-ES" sz="3200"/>
              <a:t>¿Cuál es el objetivo de este curso?</a:t>
            </a:r>
            <a:endParaRPr lang="es-MX" sz="32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BA2F1A-E724-E2BA-7B42-0D27F565C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2000"/>
              <a:t>Olvídate de los scripts que solo imprimen texto en una consola negra.</a:t>
            </a:r>
          </a:p>
          <a:p>
            <a:r>
              <a:rPr lang="es-ES" sz="2000"/>
              <a:t>Crear paneles de control profesionales (GUI).</a:t>
            </a:r>
          </a:p>
          <a:p>
            <a:r>
              <a:rPr lang="es-ES" sz="2000"/>
              <a:t>Comunicar tu computadora con microcontroladores en tiempo real.</a:t>
            </a:r>
          </a:p>
          <a:p>
            <a:r>
              <a:rPr lang="es-ES" sz="2000"/>
              <a:t>Darle "ojos" a tu código usando tu cámara web y Visión Artificial.</a:t>
            </a:r>
            <a:endParaRPr lang="es-MX" sz="200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7B5EEC6-55F1-DDE3-EDC6-D618532C2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902122"/>
            <a:ext cx="5319062" cy="2978674"/>
          </a:xfrm>
          <a:prstGeom prst="rect">
            <a:avLst/>
          </a:prstGeom>
        </p:spPr>
      </p:pic>
      <p:grpSp>
        <p:nvGrpSpPr>
          <p:cNvPr id="27" name="Group 16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18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riángulo isósceles 8">
            <a:extLst>
              <a:ext uri="{FF2B5EF4-FFF2-40B4-BE49-F238E27FC236}">
                <a16:creationId xmlns:a16="http://schemas.microsoft.com/office/drawing/2014/main" id="{8E6497B6-0FCF-F600-E3BB-E8269FE9C1A4}"/>
              </a:ext>
            </a:extLst>
          </p:cNvPr>
          <p:cNvSpPr/>
          <p:nvPr/>
        </p:nvSpPr>
        <p:spPr>
          <a:xfrm>
            <a:off x="10312400" y="5584956"/>
            <a:ext cx="1879600" cy="1273044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4912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965E1D-5F60-75D5-8160-712815315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s-MX" sz="3200"/>
              <a:t>Las Herramientas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24EF39-3AB0-7448-9913-FE6E5EDAE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MX" sz="2000" b="1" dirty="0"/>
              <a:t>Nuestro entorno de trabajo.</a:t>
            </a:r>
          </a:p>
          <a:p>
            <a:r>
              <a:rPr lang="es-MX" sz="2000" b="1" dirty="0"/>
              <a:t>Python 3.14 </a:t>
            </a:r>
            <a:r>
              <a:rPr lang="es-MX" sz="2000" dirty="0"/>
              <a:t>(El motor principal).</a:t>
            </a:r>
          </a:p>
          <a:p>
            <a:r>
              <a:rPr lang="es-MX" sz="2000" b="1" dirty="0"/>
              <a:t>Qt Widgets Designer </a:t>
            </a:r>
            <a:r>
              <a:rPr lang="es-MX" sz="2000" dirty="0"/>
              <a:t>(Para dibujar las ventanas).</a:t>
            </a:r>
          </a:p>
          <a:p>
            <a:r>
              <a:rPr lang="es-MX" sz="2000" b="1" dirty="0"/>
              <a:t>SimulIDE</a:t>
            </a:r>
            <a:r>
              <a:rPr lang="es-MX" sz="2000" dirty="0"/>
              <a:t> (Nuestro laboratorio de electrónica virtual).</a:t>
            </a:r>
          </a:p>
          <a:p>
            <a:r>
              <a:rPr lang="es-MX" sz="2000" b="1" dirty="0"/>
              <a:t>com0com</a:t>
            </a:r>
            <a:r>
              <a:rPr lang="es-MX" sz="2000" dirty="0"/>
              <a:t> (Los túneles virtuales para conectar Windows o Linux con el simulador).</a:t>
            </a:r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E1303F86-AF34-98E3-A6CC-D5185C0A1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1137" y="867064"/>
            <a:ext cx="5048790" cy="5048790"/>
          </a:xfrm>
          <a:prstGeom prst="rect">
            <a:avLst/>
          </a:prstGeom>
        </p:spPr>
      </p:pic>
      <p:grpSp>
        <p:nvGrpSpPr>
          <p:cNvPr id="17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2653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0A0FF8-CD89-7305-A526-9A0DEE56E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El Repositorio Oficial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3760E9-8DAC-CBD3-4DBF-F21FBE933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0134" y="191606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git clone https://github.com/OPEN-SOURCE-UPIITA/CursOS_Python_Avanzado.git</a:t>
            </a:r>
          </a:p>
        </p:txBody>
      </p:sp>
    </p:spTree>
    <p:extLst>
      <p:ext uri="{BB962C8B-B14F-4D97-AF65-F5344CB8AC3E}">
        <p14:creationId xmlns:p14="http://schemas.microsoft.com/office/powerpoint/2010/main" val="3664083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137</Words>
  <Application>Microsoft Office PowerPoint</Application>
  <PresentationFormat>Panorámica</PresentationFormat>
  <Paragraphs>15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Python Avanzado:  Interfaces Gráficas, Comunicación y Visión.</vt:lpstr>
      <vt:lpstr>¿Cuál es el objetivo de este curso?</vt:lpstr>
      <vt:lpstr>Las Herramientas</vt:lpstr>
      <vt:lpstr>El Repositorio Oficial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Jason Medina Martinez</dc:creator>
  <cp:lastModifiedBy>Jonathan Jason Medina Martinez</cp:lastModifiedBy>
  <cp:revision>1</cp:revision>
  <dcterms:created xsi:type="dcterms:W3CDTF">2026-03-20T01:16:00Z</dcterms:created>
  <dcterms:modified xsi:type="dcterms:W3CDTF">2026-03-20T02:37:01Z</dcterms:modified>
</cp:coreProperties>
</file>